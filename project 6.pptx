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256" r:id="rId3"/>
    <p:sldId id="261" r:id="rId4"/>
    <p:sldId id="275" r:id="rId5"/>
    <p:sldId id="266" r:id="rId6"/>
    <p:sldId id="271" r:id="rId7"/>
    <p:sldId id="276" r:id="rId8"/>
    <p:sldId id="273" r:id="rId9"/>
    <p:sldId id="262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AA6B3-9D8B-44E5-A873-79F3B9D59F14}" v="2" dt="2026-02-16T06:45:14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Gaikwad" userId="c635a5e8-6ad3-4a2a-acb8-7a20179c4010" providerId="ADAL" clId="{3D89C238-6713-4C79-9FD9-25FC1F016238}"/>
    <pc:docChg chg="undo redo custSel addSld delSld modSld sldOrd">
      <pc:chgData name="Sonal Gaikwad" userId="c635a5e8-6ad3-4a2a-acb8-7a20179c4010" providerId="ADAL" clId="{3D89C238-6713-4C79-9FD9-25FC1F016238}" dt="2026-02-16T06:45:14.694" v="4098"/>
      <pc:docMkLst>
        <pc:docMk/>
      </pc:docMkLst>
      <pc:sldChg chg="addSp delSp modSp mod">
        <pc:chgData name="Sonal Gaikwad" userId="c635a5e8-6ad3-4a2a-acb8-7a20179c4010" providerId="ADAL" clId="{3D89C238-6713-4C79-9FD9-25FC1F016238}" dt="2026-02-16T06:45:14.694" v="4098"/>
        <pc:sldMkLst>
          <pc:docMk/>
          <pc:sldMk cId="96334998" sldId="257"/>
        </pc:sldMkLst>
        <pc:picChg chg="mod">
          <ac:chgData name="Sonal Gaikwad" userId="c635a5e8-6ad3-4a2a-acb8-7a20179c4010" providerId="ADAL" clId="{3D89C238-6713-4C79-9FD9-25FC1F016238}" dt="2026-02-16T06:44:51.584" v="4093"/>
          <ac:picMkLst>
            <pc:docMk/>
            <pc:sldMk cId="96334998" sldId="257"/>
            <ac:picMk id="3" creationId="{F6CBE578-20AF-8541-4BAC-CDDCAF2FCBBF}"/>
          </ac:picMkLst>
        </pc:picChg>
        <pc:picChg chg="add">
          <ac:chgData name="Sonal Gaikwad" userId="c635a5e8-6ad3-4a2a-acb8-7a20179c4010" providerId="ADAL" clId="{3D89C238-6713-4C79-9FD9-25FC1F016238}" dt="2026-02-16T06:44:44.398" v="4091" actId="22"/>
          <ac:picMkLst>
            <pc:docMk/>
            <pc:sldMk cId="96334998" sldId="257"/>
            <ac:picMk id="5" creationId="{37D14A94-841B-4052-4749-A1008CD7A179}"/>
          </ac:picMkLst>
        </pc:picChg>
        <pc:picChg chg="add del mod">
          <ac:chgData name="Sonal Gaikwad" userId="c635a5e8-6ad3-4a2a-acb8-7a20179c4010" providerId="ADAL" clId="{3D89C238-6713-4C79-9FD9-25FC1F016238}" dt="2026-02-16T06:45:14.694" v="4098"/>
          <ac:picMkLst>
            <pc:docMk/>
            <pc:sldMk cId="96334998" sldId="257"/>
            <ac:picMk id="6" creationId="{80545D13-93A8-9624-A03C-1CFE0250A59B}"/>
          </ac:picMkLst>
        </pc:picChg>
      </pc:sldChg>
      <pc:sldChg chg="addSp new del mod">
        <pc:chgData name="Sonal Gaikwad" userId="c635a5e8-6ad3-4a2a-acb8-7a20179c4010" providerId="ADAL" clId="{3D89C238-6713-4C79-9FD9-25FC1F016238}" dt="2026-02-16T06:44:35.237" v="4090" actId="2696"/>
        <pc:sldMkLst>
          <pc:docMk/>
          <pc:sldMk cId="2103710520" sldId="277"/>
        </pc:sldMkLst>
        <pc:spChg chg="add">
          <ac:chgData name="Sonal Gaikwad" userId="c635a5e8-6ad3-4a2a-acb8-7a20179c4010" providerId="ADAL" clId="{3D89C238-6713-4C79-9FD9-25FC1F016238}" dt="2026-02-16T06:44:26.938" v="4089" actId="22"/>
          <ac:spMkLst>
            <pc:docMk/>
            <pc:sldMk cId="2103710520" sldId="277"/>
            <ac:spMk id="3" creationId="{5D2EB632-F32D-B956-CA92-F8F2DE4D624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91AAD5-84FF-4490-9D53-7FF7C3AC8FD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30AF4C-A0A8-4000-A892-16981D3B0E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solidFill>
                <a:schemeClr val="bg1"/>
              </a:solidFill>
            </a:rPr>
            <a:t>This project predicts mobile phone prices using machine learning based on features like RAM, processor, and camera.</a:t>
          </a:r>
        </a:p>
      </dgm:t>
    </dgm:pt>
    <dgm:pt modelId="{8E717EE3-F157-427A-99AF-2883C00BBC9F}" type="parTrans" cxnId="{1C3682C1-75C8-448E-87C4-BD14E95DCD0D}">
      <dgm:prSet/>
      <dgm:spPr/>
      <dgm:t>
        <a:bodyPr/>
        <a:lstStyle/>
        <a:p>
          <a:endParaRPr lang="en-US"/>
        </a:p>
      </dgm:t>
    </dgm:pt>
    <dgm:pt modelId="{F57F166D-FE51-4960-A6D1-8D1DB944C7BC}" type="sibTrans" cxnId="{1C3682C1-75C8-448E-87C4-BD14E95DCD0D}">
      <dgm:prSet/>
      <dgm:spPr/>
      <dgm:t>
        <a:bodyPr/>
        <a:lstStyle/>
        <a:p>
          <a:endParaRPr lang="en-US"/>
        </a:p>
      </dgm:t>
    </dgm:pt>
    <dgm:pt modelId="{31D131DF-7EBA-4606-9035-10CB269871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The main goal is to identify which technical specifications most influence price</a:t>
          </a:r>
          <a:r>
            <a:rPr lang="en-US" dirty="0"/>
            <a:t>.</a:t>
          </a:r>
        </a:p>
      </dgm:t>
    </dgm:pt>
    <dgm:pt modelId="{04C3C57D-C0E1-4C4D-BABF-0800843B8F4B}" type="parTrans" cxnId="{96B88723-01F5-434D-B3FF-8E5DA1174B05}">
      <dgm:prSet/>
      <dgm:spPr/>
      <dgm:t>
        <a:bodyPr/>
        <a:lstStyle/>
        <a:p>
          <a:endParaRPr lang="en-US"/>
        </a:p>
      </dgm:t>
    </dgm:pt>
    <dgm:pt modelId="{B0A9EC84-18D0-4BF8-A9F8-CD329D630A87}" type="sibTrans" cxnId="{96B88723-01F5-434D-B3FF-8E5DA1174B05}">
      <dgm:prSet/>
      <dgm:spPr/>
      <dgm:t>
        <a:bodyPr/>
        <a:lstStyle/>
        <a:p>
          <a:endParaRPr lang="en-US"/>
        </a:p>
      </dgm:t>
    </dgm:pt>
    <dgm:pt modelId="{493EE665-4AD4-4B6A-88D0-74CB04FC22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It helps companies make data-driven pricing and marketing decisions</a:t>
          </a:r>
          <a:r>
            <a:rPr lang="en-US" dirty="0"/>
            <a:t>.</a:t>
          </a:r>
        </a:p>
      </dgm:t>
    </dgm:pt>
    <dgm:pt modelId="{5BADC6A8-429C-40F4-A514-53F326BDCDEF}" type="parTrans" cxnId="{BD8FACA0-3842-4CBE-916A-758E34BBE75A}">
      <dgm:prSet/>
      <dgm:spPr/>
      <dgm:t>
        <a:bodyPr/>
        <a:lstStyle/>
        <a:p>
          <a:endParaRPr lang="en-US"/>
        </a:p>
      </dgm:t>
    </dgm:pt>
    <dgm:pt modelId="{B3FB1975-F90F-4235-A682-126F762C4D3E}" type="sibTrans" cxnId="{BD8FACA0-3842-4CBE-916A-758E34BBE75A}">
      <dgm:prSet/>
      <dgm:spPr/>
      <dgm:t>
        <a:bodyPr/>
        <a:lstStyle/>
        <a:p>
          <a:endParaRPr lang="en-US"/>
        </a:p>
      </dgm:t>
    </dgm:pt>
    <dgm:pt modelId="{29B6110B-57D9-4C82-B915-7E2F7B1F63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We used Python and ML algorithms to analyze and predict prices effectively</a:t>
          </a:r>
          <a:r>
            <a:rPr lang="en-US" dirty="0"/>
            <a:t>.</a:t>
          </a:r>
        </a:p>
      </dgm:t>
    </dgm:pt>
    <dgm:pt modelId="{CE3E7F65-FFD9-457B-9090-4DA6BD35F75F}" type="parTrans" cxnId="{FFF25AD5-3FD8-4E76-B3C7-4BBB11DD0076}">
      <dgm:prSet/>
      <dgm:spPr/>
      <dgm:t>
        <a:bodyPr/>
        <a:lstStyle/>
        <a:p>
          <a:endParaRPr lang="en-US"/>
        </a:p>
      </dgm:t>
    </dgm:pt>
    <dgm:pt modelId="{4FEC59A3-9324-4ED7-A7A5-EC73486C2F85}" type="sibTrans" cxnId="{FFF25AD5-3FD8-4E76-B3C7-4BBB11DD0076}">
      <dgm:prSet/>
      <dgm:spPr/>
      <dgm:t>
        <a:bodyPr/>
        <a:lstStyle/>
        <a:p>
          <a:endParaRPr lang="en-US"/>
        </a:p>
      </dgm:t>
    </dgm:pt>
    <dgm:pt modelId="{60695146-C6AF-4801-9665-FD6CAE97DFE2}" type="pres">
      <dgm:prSet presAssocID="{5891AAD5-84FF-4490-9D53-7FF7C3AC8FDD}" presName="root" presStyleCnt="0">
        <dgm:presLayoutVars>
          <dgm:dir/>
          <dgm:resizeHandles val="exact"/>
        </dgm:presLayoutVars>
      </dgm:prSet>
      <dgm:spPr/>
    </dgm:pt>
    <dgm:pt modelId="{12624AE3-C0A5-4DCF-916D-6565500CA010}" type="pres">
      <dgm:prSet presAssocID="{1B30AF4C-A0A8-4000-A892-16981D3B0EBD}" presName="compNode" presStyleCnt="0"/>
      <dgm:spPr/>
    </dgm:pt>
    <dgm:pt modelId="{8BCCE0D3-5785-4B5E-AB3B-832F49ACD442}" type="pres">
      <dgm:prSet presAssocID="{1B30AF4C-A0A8-4000-A892-16981D3B0E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00F196F-EC91-4116-8869-E315C7405DAD}" type="pres">
      <dgm:prSet presAssocID="{1B30AF4C-A0A8-4000-A892-16981D3B0EBD}" presName="spaceRect" presStyleCnt="0"/>
      <dgm:spPr/>
    </dgm:pt>
    <dgm:pt modelId="{7F3D4093-EC1B-43BC-BC71-9BE31552E8CA}" type="pres">
      <dgm:prSet presAssocID="{1B30AF4C-A0A8-4000-A892-16981D3B0EBD}" presName="textRect" presStyleLbl="revTx" presStyleIdx="0" presStyleCnt="4">
        <dgm:presLayoutVars>
          <dgm:chMax val="1"/>
          <dgm:chPref val="1"/>
        </dgm:presLayoutVars>
      </dgm:prSet>
      <dgm:spPr/>
    </dgm:pt>
    <dgm:pt modelId="{A0B30468-BBB3-4989-B290-24BFB0548EFD}" type="pres">
      <dgm:prSet presAssocID="{F57F166D-FE51-4960-A6D1-8D1DB944C7BC}" presName="sibTrans" presStyleCnt="0"/>
      <dgm:spPr/>
    </dgm:pt>
    <dgm:pt modelId="{8B1781E7-4588-40EB-8E61-957324D4E8E8}" type="pres">
      <dgm:prSet presAssocID="{31D131DF-7EBA-4606-9035-10CB2698712E}" presName="compNode" presStyleCnt="0"/>
      <dgm:spPr/>
    </dgm:pt>
    <dgm:pt modelId="{18A805BF-5020-4BB9-B94D-CB5FF992D070}" type="pres">
      <dgm:prSet presAssocID="{31D131DF-7EBA-4606-9035-10CB269871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7032B9A-4B90-4CFB-8B90-24683E1D2027}" type="pres">
      <dgm:prSet presAssocID="{31D131DF-7EBA-4606-9035-10CB2698712E}" presName="spaceRect" presStyleCnt="0"/>
      <dgm:spPr/>
    </dgm:pt>
    <dgm:pt modelId="{1672C11F-513D-4142-AE11-0E757CCD6422}" type="pres">
      <dgm:prSet presAssocID="{31D131DF-7EBA-4606-9035-10CB2698712E}" presName="textRect" presStyleLbl="revTx" presStyleIdx="1" presStyleCnt="4">
        <dgm:presLayoutVars>
          <dgm:chMax val="1"/>
          <dgm:chPref val="1"/>
        </dgm:presLayoutVars>
      </dgm:prSet>
      <dgm:spPr/>
    </dgm:pt>
    <dgm:pt modelId="{B8756B66-68A6-4884-AE78-6CF0390DE9BB}" type="pres">
      <dgm:prSet presAssocID="{B0A9EC84-18D0-4BF8-A9F8-CD329D630A87}" presName="sibTrans" presStyleCnt="0"/>
      <dgm:spPr/>
    </dgm:pt>
    <dgm:pt modelId="{DA985597-38CC-46DA-8570-DC4FA244735E}" type="pres">
      <dgm:prSet presAssocID="{493EE665-4AD4-4B6A-88D0-74CB04FC220F}" presName="compNode" presStyleCnt="0"/>
      <dgm:spPr/>
    </dgm:pt>
    <dgm:pt modelId="{4F7F2A7B-8790-445C-AB10-AB13B258F2FA}" type="pres">
      <dgm:prSet presAssocID="{493EE665-4AD4-4B6A-88D0-74CB04FC220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27098A1-E299-4D78-A36D-23083E5DA994}" type="pres">
      <dgm:prSet presAssocID="{493EE665-4AD4-4B6A-88D0-74CB04FC220F}" presName="spaceRect" presStyleCnt="0"/>
      <dgm:spPr/>
    </dgm:pt>
    <dgm:pt modelId="{00344B7A-B2BA-44C6-A95C-6704E00D5302}" type="pres">
      <dgm:prSet presAssocID="{493EE665-4AD4-4B6A-88D0-74CB04FC220F}" presName="textRect" presStyleLbl="revTx" presStyleIdx="2" presStyleCnt="4">
        <dgm:presLayoutVars>
          <dgm:chMax val="1"/>
          <dgm:chPref val="1"/>
        </dgm:presLayoutVars>
      </dgm:prSet>
      <dgm:spPr/>
    </dgm:pt>
    <dgm:pt modelId="{1B8976E0-0798-4D40-89A2-A9A9BB65DABA}" type="pres">
      <dgm:prSet presAssocID="{B3FB1975-F90F-4235-A682-126F762C4D3E}" presName="sibTrans" presStyleCnt="0"/>
      <dgm:spPr/>
    </dgm:pt>
    <dgm:pt modelId="{B00B9EA9-0FC7-49D4-872B-1D3D51784FBA}" type="pres">
      <dgm:prSet presAssocID="{29B6110B-57D9-4C82-B915-7E2F7B1F63D3}" presName="compNode" presStyleCnt="0"/>
      <dgm:spPr/>
    </dgm:pt>
    <dgm:pt modelId="{8C6CB3CA-2FA5-43FE-8689-F1850549D595}" type="pres">
      <dgm:prSet presAssocID="{29B6110B-57D9-4C82-B915-7E2F7B1F63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2B847A5-7170-4858-BDDC-8E240CF5D554}" type="pres">
      <dgm:prSet presAssocID="{29B6110B-57D9-4C82-B915-7E2F7B1F63D3}" presName="spaceRect" presStyleCnt="0"/>
      <dgm:spPr/>
    </dgm:pt>
    <dgm:pt modelId="{C0CFEF98-965E-49A5-9E3E-291DBC299E53}" type="pres">
      <dgm:prSet presAssocID="{29B6110B-57D9-4C82-B915-7E2F7B1F63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CC61420-CDBB-4F61-B241-A36C6D577B38}" type="presOf" srcId="{31D131DF-7EBA-4606-9035-10CB2698712E}" destId="{1672C11F-513D-4142-AE11-0E757CCD6422}" srcOrd="0" destOrd="0" presId="urn:microsoft.com/office/officeart/2018/2/layout/IconLabelList"/>
    <dgm:cxn modelId="{96B88723-01F5-434D-B3FF-8E5DA1174B05}" srcId="{5891AAD5-84FF-4490-9D53-7FF7C3AC8FDD}" destId="{31D131DF-7EBA-4606-9035-10CB2698712E}" srcOrd="1" destOrd="0" parTransId="{04C3C57D-C0E1-4C4D-BABF-0800843B8F4B}" sibTransId="{B0A9EC84-18D0-4BF8-A9F8-CD329D630A87}"/>
    <dgm:cxn modelId="{F8DB5D40-0C84-4E7C-9A83-CE2F53F2E6AB}" type="presOf" srcId="{29B6110B-57D9-4C82-B915-7E2F7B1F63D3}" destId="{C0CFEF98-965E-49A5-9E3E-291DBC299E53}" srcOrd="0" destOrd="0" presId="urn:microsoft.com/office/officeart/2018/2/layout/IconLabelList"/>
    <dgm:cxn modelId="{2BE4E744-4390-4738-8E7F-E783FC475F41}" type="presOf" srcId="{5891AAD5-84FF-4490-9D53-7FF7C3AC8FDD}" destId="{60695146-C6AF-4801-9665-FD6CAE97DFE2}" srcOrd="0" destOrd="0" presId="urn:microsoft.com/office/officeart/2018/2/layout/IconLabelList"/>
    <dgm:cxn modelId="{0985C068-E1E7-4C9E-ACF9-86E41F337572}" type="presOf" srcId="{493EE665-4AD4-4B6A-88D0-74CB04FC220F}" destId="{00344B7A-B2BA-44C6-A95C-6704E00D5302}" srcOrd="0" destOrd="0" presId="urn:microsoft.com/office/officeart/2018/2/layout/IconLabelList"/>
    <dgm:cxn modelId="{B545D69C-A6B5-4C54-9D1E-623D9EDDB9B5}" type="presOf" srcId="{1B30AF4C-A0A8-4000-A892-16981D3B0EBD}" destId="{7F3D4093-EC1B-43BC-BC71-9BE31552E8CA}" srcOrd="0" destOrd="0" presId="urn:microsoft.com/office/officeart/2018/2/layout/IconLabelList"/>
    <dgm:cxn modelId="{BD8FACA0-3842-4CBE-916A-758E34BBE75A}" srcId="{5891AAD5-84FF-4490-9D53-7FF7C3AC8FDD}" destId="{493EE665-4AD4-4B6A-88D0-74CB04FC220F}" srcOrd="2" destOrd="0" parTransId="{5BADC6A8-429C-40F4-A514-53F326BDCDEF}" sibTransId="{B3FB1975-F90F-4235-A682-126F762C4D3E}"/>
    <dgm:cxn modelId="{1C3682C1-75C8-448E-87C4-BD14E95DCD0D}" srcId="{5891AAD5-84FF-4490-9D53-7FF7C3AC8FDD}" destId="{1B30AF4C-A0A8-4000-A892-16981D3B0EBD}" srcOrd="0" destOrd="0" parTransId="{8E717EE3-F157-427A-99AF-2883C00BBC9F}" sibTransId="{F57F166D-FE51-4960-A6D1-8D1DB944C7BC}"/>
    <dgm:cxn modelId="{FFF25AD5-3FD8-4E76-B3C7-4BBB11DD0076}" srcId="{5891AAD5-84FF-4490-9D53-7FF7C3AC8FDD}" destId="{29B6110B-57D9-4C82-B915-7E2F7B1F63D3}" srcOrd="3" destOrd="0" parTransId="{CE3E7F65-FFD9-457B-9090-4DA6BD35F75F}" sibTransId="{4FEC59A3-9324-4ED7-A7A5-EC73486C2F85}"/>
    <dgm:cxn modelId="{F42EA80B-3504-4D1D-8CB3-C266BB96F621}" type="presParOf" srcId="{60695146-C6AF-4801-9665-FD6CAE97DFE2}" destId="{12624AE3-C0A5-4DCF-916D-6565500CA010}" srcOrd="0" destOrd="0" presId="urn:microsoft.com/office/officeart/2018/2/layout/IconLabelList"/>
    <dgm:cxn modelId="{35C603B4-05FF-4672-8E22-A225B079033E}" type="presParOf" srcId="{12624AE3-C0A5-4DCF-916D-6565500CA010}" destId="{8BCCE0D3-5785-4B5E-AB3B-832F49ACD442}" srcOrd="0" destOrd="0" presId="urn:microsoft.com/office/officeart/2018/2/layout/IconLabelList"/>
    <dgm:cxn modelId="{E835FC69-0439-44F2-94FD-5E1D754B1E05}" type="presParOf" srcId="{12624AE3-C0A5-4DCF-916D-6565500CA010}" destId="{500F196F-EC91-4116-8869-E315C7405DAD}" srcOrd="1" destOrd="0" presId="urn:microsoft.com/office/officeart/2018/2/layout/IconLabelList"/>
    <dgm:cxn modelId="{8650AF26-B9BE-45E1-AB9F-ECABE8190054}" type="presParOf" srcId="{12624AE3-C0A5-4DCF-916D-6565500CA010}" destId="{7F3D4093-EC1B-43BC-BC71-9BE31552E8CA}" srcOrd="2" destOrd="0" presId="urn:microsoft.com/office/officeart/2018/2/layout/IconLabelList"/>
    <dgm:cxn modelId="{D8E58FEA-90DA-47BE-BBAD-51EB120F4ECD}" type="presParOf" srcId="{60695146-C6AF-4801-9665-FD6CAE97DFE2}" destId="{A0B30468-BBB3-4989-B290-24BFB0548EFD}" srcOrd="1" destOrd="0" presId="urn:microsoft.com/office/officeart/2018/2/layout/IconLabelList"/>
    <dgm:cxn modelId="{08C8A328-A48E-4CAA-A6B1-0CF5953C7BF8}" type="presParOf" srcId="{60695146-C6AF-4801-9665-FD6CAE97DFE2}" destId="{8B1781E7-4588-40EB-8E61-957324D4E8E8}" srcOrd="2" destOrd="0" presId="urn:microsoft.com/office/officeart/2018/2/layout/IconLabelList"/>
    <dgm:cxn modelId="{7DC146EA-39D4-46E5-93EE-55CD229045CA}" type="presParOf" srcId="{8B1781E7-4588-40EB-8E61-957324D4E8E8}" destId="{18A805BF-5020-4BB9-B94D-CB5FF992D070}" srcOrd="0" destOrd="0" presId="urn:microsoft.com/office/officeart/2018/2/layout/IconLabelList"/>
    <dgm:cxn modelId="{000490F1-335B-41A6-BE21-4620A103EFC2}" type="presParOf" srcId="{8B1781E7-4588-40EB-8E61-957324D4E8E8}" destId="{37032B9A-4B90-4CFB-8B90-24683E1D2027}" srcOrd="1" destOrd="0" presId="urn:microsoft.com/office/officeart/2018/2/layout/IconLabelList"/>
    <dgm:cxn modelId="{59C25C40-8354-4FF7-8F78-2B0568B34EFF}" type="presParOf" srcId="{8B1781E7-4588-40EB-8E61-957324D4E8E8}" destId="{1672C11F-513D-4142-AE11-0E757CCD6422}" srcOrd="2" destOrd="0" presId="urn:microsoft.com/office/officeart/2018/2/layout/IconLabelList"/>
    <dgm:cxn modelId="{3D792F69-420A-44A8-8340-71FFED4F7804}" type="presParOf" srcId="{60695146-C6AF-4801-9665-FD6CAE97DFE2}" destId="{B8756B66-68A6-4884-AE78-6CF0390DE9BB}" srcOrd="3" destOrd="0" presId="urn:microsoft.com/office/officeart/2018/2/layout/IconLabelList"/>
    <dgm:cxn modelId="{5FC69D69-9E6D-45F0-B203-6C5C1F50A344}" type="presParOf" srcId="{60695146-C6AF-4801-9665-FD6CAE97DFE2}" destId="{DA985597-38CC-46DA-8570-DC4FA244735E}" srcOrd="4" destOrd="0" presId="urn:microsoft.com/office/officeart/2018/2/layout/IconLabelList"/>
    <dgm:cxn modelId="{C844D083-DB5A-4D8D-93CE-FEB41AF7E16A}" type="presParOf" srcId="{DA985597-38CC-46DA-8570-DC4FA244735E}" destId="{4F7F2A7B-8790-445C-AB10-AB13B258F2FA}" srcOrd="0" destOrd="0" presId="urn:microsoft.com/office/officeart/2018/2/layout/IconLabelList"/>
    <dgm:cxn modelId="{FA870E2E-B8D7-40BB-879D-9A3231959B2E}" type="presParOf" srcId="{DA985597-38CC-46DA-8570-DC4FA244735E}" destId="{C27098A1-E299-4D78-A36D-23083E5DA994}" srcOrd="1" destOrd="0" presId="urn:microsoft.com/office/officeart/2018/2/layout/IconLabelList"/>
    <dgm:cxn modelId="{F6ECB83A-CD36-4B95-B0A8-AEE169E3E0EF}" type="presParOf" srcId="{DA985597-38CC-46DA-8570-DC4FA244735E}" destId="{00344B7A-B2BA-44C6-A95C-6704E00D5302}" srcOrd="2" destOrd="0" presId="urn:microsoft.com/office/officeart/2018/2/layout/IconLabelList"/>
    <dgm:cxn modelId="{290B8E95-A8AF-4B16-892A-291AEA40A097}" type="presParOf" srcId="{60695146-C6AF-4801-9665-FD6CAE97DFE2}" destId="{1B8976E0-0798-4D40-89A2-A9A9BB65DABA}" srcOrd="5" destOrd="0" presId="urn:microsoft.com/office/officeart/2018/2/layout/IconLabelList"/>
    <dgm:cxn modelId="{E47F06AB-67A4-4F79-88FC-8C9E63504D10}" type="presParOf" srcId="{60695146-C6AF-4801-9665-FD6CAE97DFE2}" destId="{B00B9EA9-0FC7-49D4-872B-1D3D51784FBA}" srcOrd="6" destOrd="0" presId="urn:microsoft.com/office/officeart/2018/2/layout/IconLabelList"/>
    <dgm:cxn modelId="{2B0F5A7D-9312-48AA-A1D2-B57054506293}" type="presParOf" srcId="{B00B9EA9-0FC7-49D4-872B-1D3D51784FBA}" destId="{8C6CB3CA-2FA5-43FE-8689-F1850549D595}" srcOrd="0" destOrd="0" presId="urn:microsoft.com/office/officeart/2018/2/layout/IconLabelList"/>
    <dgm:cxn modelId="{5B4C705E-4BA3-4AD2-BBD2-46FD31D98466}" type="presParOf" srcId="{B00B9EA9-0FC7-49D4-872B-1D3D51784FBA}" destId="{A2B847A5-7170-4858-BDDC-8E240CF5D554}" srcOrd="1" destOrd="0" presId="urn:microsoft.com/office/officeart/2018/2/layout/IconLabelList"/>
    <dgm:cxn modelId="{1319812E-8731-49C3-BAFA-51B119659507}" type="presParOf" srcId="{B00B9EA9-0FC7-49D4-872B-1D3D51784FBA}" destId="{C0CFEF98-965E-49A5-9E3E-291DBC299E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CE0D3-5785-4B5E-AB3B-832F49ACD442}">
      <dsp:nvSpPr>
        <dsp:cNvPr id="0" name=""/>
        <dsp:cNvSpPr/>
      </dsp:nvSpPr>
      <dsp:spPr>
        <a:xfrm>
          <a:off x="1138979" y="639837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D4093-EC1B-43BC-BC71-9BE31552E8CA}">
      <dsp:nvSpPr>
        <dsp:cNvPr id="0" name=""/>
        <dsp:cNvSpPr/>
      </dsp:nvSpPr>
      <dsp:spPr>
        <a:xfrm>
          <a:off x="569079" y="2007059"/>
          <a:ext cx="2072362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This project predicts mobile phone prices using machine learning based on features like RAM, processor, and camera.</a:t>
          </a:r>
        </a:p>
      </dsp:txBody>
      <dsp:txXfrm>
        <a:off x="569079" y="2007059"/>
        <a:ext cx="2072362" cy="1530000"/>
      </dsp:txXfrm>
    </dsp:sp>
    <dsp:sp modelId="{18A805BF-5020-4BB9-B94D-CB5FF992D070}">
      <dsp:nvSpPr>
        <dsp:cNvPr id="0" name=""/>
        <dsp:cNvSpPr/>
      </dsp:nvSpPr>
      <dsp:spPr>
        <a:xfrm>
          <a:off x="3574005" y="639837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2C11F-513D-4142-AE11-0E757CCD6422}">
      <dsp:nvSpPr>
        <dsp:cNvPr id="0" name=""/>
        <dsp:cNvSpPr/>
      </dsp:nvSpPr>
      <dsp:spPr>
        <a:xfrm>
          <a:off x="3004105" y="2007059"/>
          <a:ext cx="2072362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The main goal is to identify which technical specifications most influence price</a:t>
          </a:r>
          <a:r>
            <a:rPr lang="en-US" sz="1900" kern="1200" dirty="0"/>
            <a:t>.</a:t>
          </a:r>
        </a:p>
      </dsp:txBody>
      <dsp:txXfrm>
        <a:off x="3004105" y="2007059"/>
        <a:ext cx="2072362" cy="1530000"/>
      </dsp:txXfrm>
    </dsp:sp>
    <dsp:sp modelId="{4F7F2A7B-8790-445C-AB10-AB13B258F2FA}">
      <dsp:nvSpPr>
        <dsp:cNvPr id="0" name=""/>
        <dsp:cNvSpPr/>
      </dsp:nvSpPr>
      <dsp:spPr>
        <a:xfrm>
          <a:off x="6009031" y="639837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44B7A-B2BA-44C6-A95C-6704E00D5302}">
      <dsp:nvSpPr>
        <dsp:cNvPr id="0" name=""/>
        <dsp:cNvSpPr/>
      </dsp:nvSpPr>
      <dsp:spPr>
        <a:xfrm>
          <a:off x="5439131" y="2007059"/>
          <a:ext cx="2072362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It helps companies make data-driven pricing and marketing decisions</a:t>
          </a:r>
          <a:r>
            <a:rPr lang="en-US" sz="1900" kern="1200" dirty="0"/>
            <a:t>.</a:t>
          </a:r>
        </a:p>
      </dsp:txBody>
      <dsp:txXfrm>
        <a:off x="5439131" y="2007059"/>
        <a:ext cx="2072362" cy="1530000"/>
      </dsp:txXfrm>
    </dsp:sp>
    <dsp:sp modelId="{8C6CB3CA-2FA5-43FE-8689-F1850549D595}">
      <dsp:nvSpPr>
        <dsp:cNvPr id="0" name=""/>
        <dsp:cNvSpPr/>
      </dsp:nvSpPr>
      <dsp:spPr>
        <a:xfrm>
          <a:off x="8444057" y="639837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FEF98-965E-49A5-9E3E-291DBC299E53}">
      <dsp:nvSpPr>
        <dsp:cNvPr id="0" name=""/>
        <dsp:cNvSpPr/>
      </dsp:nvSpPr>
      <dsp:spPr>
        <a:xfrm>
          <a:off x="7874157" y="2007059"/>
          <a:ext cx="2072362" cy="15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We used Python and ML algorithms to analyze and predict prices effectively</a:t>
          </a:r>
          <a:r>
            <a:rPr lang="en-US" sz="1900" kern="1200" dirty="0"/>
            <a:t>.</a:t>
          </a:r>
        </a:p>
      </dsp:txBody>
      <dsp:txXfrm>
        <a:off x="7874157" y="2007059"/>
        <a:ext cx="2072362" cy="153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9259-FC5C-F6D4-B2DA-B33DAF73F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B443B-6A99-52FF-4E58-5698BDF48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25A8-34C5-977A-9D77-37FC3BE8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F363-12D6-EA41-5496-3546877C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C5C4-EDE4-943E-FC36-3BF0D9BD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7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94C9-EA8F-CE1D-531D-E850699F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95C2-F852-D1F1-1EC4-427CDBA6E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D841-2E12-EE79-0A0E-ABC355CE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DD5C1-971F-2B92-6198-91450EFF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E42E8-7AB0-8165-EB2D-AD79785F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894-29D2-F0ED-80A9-C1EBCC59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9FA80-A97F-D4DB-458E-E208550C8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51722-C9C9-8643-E9FC-536F062F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7827C-76E8-AA53-12AB-2F39BD42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2E23A-447E-CD0E-5EF5-995A4CAC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9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5872A-CB58-3971-A0A8-EA52F402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E456B-9937-16E7-B38D-6E74CAD1A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62E57-42C0-DCDF-D261-0AA5353A8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86F0B-1BD4-5B38-2AE9-21AE4D93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11C62-87F8-9622-A482-F98CAE80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2F13E-4583-FA74-A83B-E60F6642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0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772E-CCCE-EE39-C6E6-32136950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86FCC-0D19-6B2B-B688-1C303A2D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D88B1-B8BD-CB83-360F-3CE54A290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AD701-9D3D-138B-F27B-8C472D0E4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35628-D479-CDE4-A991-DB736AC62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ABD3FC-54DB-0934-AB2D-337F6176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2D49F-C7CD-E991-940A-93DDC4F6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9D2FB-821A-6E41-E4A6-9E44C079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5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0705-06C8-6ECF-C218-96064299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285B3-34DB-BE2D-B3BC-204C8111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2AC9F0-A941-66BB-5590-C582635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A1258-4040-431F-DEDD-FADF88A2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4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4969B-1B39-65E9-C1A7-097BEACE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85F1C-6850-973F-F33B-485D2FA1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9AAEB-59D5-9F36-6A2A-BD3D1DFC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2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18B4-982A-AE71-FDED-34C789AE6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53591-1EAC-04BB-DD42-AB0F075D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CF732-8564-7580-1D0A-C1CDAB6BD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8638B-1C7B-298C-1B1A-26D320710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4DCB1-A0C2-045E-E84F-998182C7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E6DB4-FD3D-C32F-FAC9-F99DD8F0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6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F00C-8BFC-DAE2-3280-EEBC229B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2FE4C-A03C-F006-3F62-BD2BE692D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BC0EC-DC83-2569-08C4-4D3F19CEC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60D2E-5C5F-C102-0A12-D43CC43E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478D1-59FB-379F-ABB2-507E6A60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E776F-981C-1DE3-4630-A6229CAD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03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ED86-B10A-545B-4A57-B38FBD46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92418-E5B8-8108-63B1-0960AC847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697C-E96B-37AB-88BA-1536F70B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C55A2-9B69-8C92-9A2F-395D077F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454A9-42C8-4339-DC78-962B0A40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3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06306-EA24-2F17-A845-FF855276D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F3168-3F77-8481-41A2-A5845B741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322D5-1322-1C7F-F025-7F652010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22A3E-C43E-67D4-A517-200863A8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8A7A0-D5D2-8B14-DE31-20CFCED4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4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937CC8-DB6F-5BC7-09A9-C506A313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E06A8-5DDA-F72D-8B92-889A4C915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46FC-722D-7EAF-807D-7D5A285D2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E849C-523B-44EB-A70F-7F586B176F8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2DF5-E45B-032F-B6AB-5DF371911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FAFE1-D19A-908F-DD93-CA699EDF3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89D83-78F0-4AA9-9B9B-8B00BA684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7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Freeform: Shape 37">
            <a:extLst>
              <a:ext uri="{FF2B5EF4-FFF2-40B4-BE49-F238E27FC236}">
                <a16:creationId xmlns:a16="http://schemas.microsoft.com/office/drawing/2014/main" id="{1BF4DD63-CE83-4A2A-994E-8598C22E6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9" y="1498601"/>
            <a:ext cx="5260975" cy="4707593"/>
          </a:xfrm>
          <a:custGeom>
            <a:avLst/>
            <a:gdLst>
              <a:gd name="connsiteX0" fmla="*/ 0 w 5260975"/>
              <a:gd name="connsiteY0" fmla="*/ 0 h 4707593"/>
              <a:gd name="connsiteX1" fmla="*/ 5260975 w 5260975"/>
              <a:gd name="connsiteY1" fmla="*/ 0 h 4707593"/>
              <a:gd name="connsiteX2" fmla="*/ 5260975 w 5260975"/>
              <a:gd name="connsiteY2" fmla="*/ 3296937 h 4707593"/>
              <a:gd name="connsiteX3" fmla="*/ 5260975 w 5260975"/>
              <a:gd name="connsiteY3" fmla="*/ 3518571 h 4707593"/>
              <a:gd name="connsiteX4" fmla="*/ 5226504 w 5260975"/>
              <a:gd name="connsiteY4" fmla="*/ 3534000 h 4707593"/>
              <a:gd name="connsiteX5" fmla="*/ 5206341 w 5260975"/>
              <a:gd name="connsiteY5" fmla="*/ 3542065 h 4707593"/>
              <a:gd name="connsiteX6" fmla="*/ 5123287 w 5260975"/>
              <a:gd name="connsiteY6" fmla="*/ 3594010 h 4707593"/>
              <a:gd name="connsiteX7" fmla="*/ 5048107 w 5260975"/>
              <a:gd name="connsiteY7" fmla="*/ 3658244 h 4707593"/>
              <a:gd name="connsiteX8" fmla="*/ 4992899 w 5260975"/>
              <a:gd name="connsiteY8" fmla="*/ 3734479 h 4707593"/>
              <a:gd name="connsiteX9" fmla="*/ 4977440 w 5260975"/>
              <a:gd name="connsiteY9" fmla="*/ 3752627 h 4707593"/>
              <a:gd name="connsiteX10" fmla="*/ 4935194 w 5260975"/>
              <a:gd name="connsiteY10" fmla="*/ 3775382 h 4707593"/>
              <a:gd name="connsiteX11" fmla="*/ 4897844 w 5260975"/>
              <a:gd name="connsiteY11" fmla="*/ 3792472 h 4707593"/>
              <a:gd name="connsiteX12" fmla="*/ 4870767 w 5260975"/>
              <a:gd name="connsiteY12" fmla="*/ 3811388 h 4707593"/>
              <a:gd name="connsiteX13" fmla="*/ 4847917 w 5260975"/>
              <a:gd name="connsiteY13" fmla="*/ 3828767 h 4707593"/>
              <a:gd name="connsiteX14" fmla="*/ 4796163 w 5260975"/>
              <a:gd name="connsiteY14" fmla="*/ 3873702 h 4707593"/>
              <a:gd name="connsiteX15" fmla="*/ 4738843 w 5260975"/>
              <a:gd name="connsiteY15" fmla="*/ 3911628 h 4707593"/>
              <a:gd name="connsiteX16" fmla="*/ 4692755 w 5260975"/>
              <a:gd name="connsiteY16" fmla="*/ 3958099 h 4707593"/>
              <a:gd name="connsiteX17" fmla="*/ 4673744 w 5260975"/>
              <a:gd name="connsiteY17" fmla="*/ 3983255 h 4707593"/>
              <a:gd name="connsiteX18" fmla="*/ 4633801 w 5260975"/>
              <a:gd name="connsiteY18" fmla="*/ 4000442 h 4707593"/>
              <a:gd name="connsiteX19" fmla="*/ 4590499 w 5260975"/>
              <a:gd name="connsiteY19" fmla="*/ 4027326 h 4707593"/>
              <a:gd name="connsiteX20" fmla="*/ 4559773 w 5260975"/>
              <a:gd name="connsiteY20" fmla="*/ 4054018 h 4707593"/>
              <a:gd name="connsiteX21" fmla="*/ 4536059 w 5260975"/>
              <a:gd name="connsiteY21" fmla="*/ 4071877 h 4707593"/>
              <a:gd name="connsiteX22" fmla="*/ 4502550 w 5260975"/>
              <a:gd name="connsiteY22" fmla="*/ 4089832 h 4707593"/>
              <a:gd name="connsiteX23" fmla="*/ 4468944 w 5260975"/>
              <a:gd name="connsiteY23" fmla="*/ 4113356 h 4707593"/>
              <a:gd name="connsiteX24" fmla="*/ 4452623 w 5260975"/>
              <a:gd name="connsiteY24" fmla="*/ 4127854 h 4707593"/>
              <a:gd name="connsiteX25" fmla="*/ 4421032 w 5260975"/>
              <a:gd name="connsiteY25" fmla="*/ 4151953 h 4707593"/>
              <a:gd name="connsiteX26" fmla="*/ 4388483 w 5260975"/>
              <a:gd name="connsiteY26" fmla="*/ 4174421 h 4707593"/>
              <a:gd name="connsiteX27" fmla="*/ 4327321 w 5260975"/>
              <a:gd name="connsiteY27" fmla="*/ 4200153 h 4707593"/>
              <a:gd name="connsiteX28" fmla="*/ 4271633 w 5260975"/>
              <a:gd name="connsiteY28" fmla="*/ 4237983 h 4707593"/>
              <a:gd name="connsiteX29" fmla="*/ 4227465 w 5260975"/>
              <a:gd name="connsiteY29" fmla="*/ 4265635 h 4707593"/>
              <a:gd name="connsiteX30" fmla="*/ 4201733 w 5260975"/>
              <a:gd name="connsiteY30" fmla="*/ 4283783 h 4707593"/>
              <a:gd name="connsiteX31" fmla="*/ 4154494 w 5260975"/>
              <a:gd name="connsiteY31" fmla="*/ 4324301 h 4707593"/>
              <a:gd name="connsiteX32" fmla="*/ 4081234 w 5260975"/>
              <a:gd name="connsiteY32" fmla="*/ 4366931 h 4707593"/>
              <a:gd name="connsiteX33" fmla="*/ 4036971 w 5260975"/>
              <a:gd name="connsiteY33" fmla="*/ 4389975 h 4707593"/>
              <a:gd name="connsiteX34" fmla="*/ 3941725 w 5260975"/>
              <a:gd name="connsiteY34" fmla="*/ 4424733 h 4707593"/>
              <a:gd name="connsiteX35" fmla="*/ 3910999 w 5260975"/>
              <a:gd name="connsiteY35" fmla="*/ 4437119 h 4707593"/>
              <a:gd name="connsiteX36" fmla="*/ 3875859 w 5260975"/>
              <a:gd name="connsiteY36" fmla="*/ 4445280 h 4707593"/>
              <a:gd name="connsiteX37" fmla="*/ 3819401 w 5260975"/>
              <a:gd name="connsiteY37" fmla="*/ 4464579 h 4707593"/>
              <a:gd name="connsiteX38" fmla="*/ 3709176 w 5260975"/>
              <a:gd name="connsiteY38" fmla="*/ 4497800 h 4707593"/>
              <a:gd name="connsiteX39" fmla="*/ 3684981 w 5260975"/>
              <a:gd name="connsiteY39" fmla="*/ 4502889 h 4707593"/>
              <a:gd name="connsiteX40" fmla="*/ 3623338 w 5260975"/>
              <a:gd name="connsiteY40" fmla="*/ 4524300 h 4707593"/>
              <a:gd name="connsiteX41" fmla="*/ 3586373 w 5260975"/>
              <a:gd name="connsiteY41" fmla="*/ 4538702 h 4707593"/>
              <a:gd name="connsiteX42" fmla="*/ 3555743 w 5260975"/>
              <a:gd name="connsiteY42" fmla="*/ 4546960 h 4707593"/>
              <a:gd name="connsiteX43" fmla="*/ 3528667 w 5260975"/>
              <a:gd name="connsiteY43" fmla="*/ 4550801 h 4707593"/>
              <a:gd name="connsiteX44" fmla="*/ 3457424 w 5260975"/>
              <a:gd name="connsiteY44" fmla="*/ 4569811 h 4707593"/>
              <a:gd name="connsiteX45" fmla="*/ 3429003 w 5260975"/>
              <a:gd name="connsiteY45" fmla="*/ 4577301 h 4707593"/>
              <a:gd name="connsiteX46" fmla="*/ 3355264 w 5260975"/>
              <a:gd name="connsiteY46" fmla="*/ 4603033 h 4707593"/>
              <a:gd name="connsiteX47" fmla="*/ 3292757 w 5260975"/>
              <a:gd name="connsiteY47" fmla="*/ 4620027 h 4707593"/>
              <a:gd name="connsiteX48" fmla="*/ 3266643 w 5260975"/>
              <a:gd name="connsiteY48" fmla="*/ 4628188 h 4707593"/>
              <a:gd name="connsiteX49" fmla="*/ 3206921 w 5260975"/>
              <a:gd name="connsiteY49" fmla="*/ 4641823 h 4707593"/>
              <a:gd name="connsiteX50" fmla="*/ 3173123 w 5260975"/>
              <a:gd name="connsiteY50" fmla="*/ 4651425 h 4707593"/>
              <a:gd name="connsiteX51" fmla="*/ 3090646 w 5260975"/>
              <a:gd name="connsiteY51" fmla="*/ 4662274 h 4707593"/>
              <a:gd name="connsiteX52" fmla="*/ 3005480 w 5260975"/>
              <a:gd name="connsiteY52" fmla="*/ 4672739 h 4707593"/>
              <a:gd name="connsiteX53" fmla="*/ 2958721 w 5260975"/>
              <a:gd name="connsiteY53" fmla="*/ 4676196 h 4707593"/>
              <a:gd name="connsiteX54" fmla="*/ 2917915 w 5260975"/>
              <a:gd name="connsiteY54" fmla="*/ 4681670 h 4707593"/>
              <a:gd name="connsiteX55" fmla="*/ 2882389 w 5260975"/>
              <a:gd name="connsiteY55" fmla="*/ 4685126 h 4707593"/>
              <a:gd name="connsiteX56" fmla="*/ 2825837 w 5260975"/>
              <a:gd name="connsiteY56" fmla="*/ 4692135 h 4707593"/>
              <a:gd name="connsiteX57" fmla="*/ 2802313 w 5260975"/>
              <a:gd name="connsiteY57" fmla="*/ 4693960 h 4707593"/>
              <a:gd name="connsiteX58" fmla="*/ 2746816 w 5260975"/>
              <a:gd name="connsiteY58" fmla="*/ 4693863 h 4707593"/>
              <a:gd name="connsiteX59" fmla="*/ 2727517 w 5260975"/>
              <a:gd name="connsiteY59" fmla="*/ 4692903 h 4707593"/>
              <a:gd name="connsiteX60" fmla="*/ 2690359 w 5260975"/>
              <a:gd name="connsiteY60" fmla="*/ 4680997 h 4707593"/>
              <a:gd name="connsiteX61" fmla="*/ 2685943 w 5260975"/>
              <a:gd name="connsiteY61" fmla="*/ 4680133 h 4707593"/>
              <a:gd name="connsiteX62" fmla="*/ 2661554 w 5260975"/>
              <a:gd name="connsiteY62" fmla="*/ 4675428 h 4707593"/>
              <a:gd name="connsiteX63" fmla="*/ 2648208 w 5260975"/>
              <a:gd name="connsiteY63" fmla="*/ 4673892 h 4707593"/>
              <a:gd name="connsiteX64" fmla="*/ 2597512 w 5260975"/>
              <a:gd name="connsiteY64" fmla="*/ 4664099 h 4707593"/>
              <a:gd name="connsiteX65" fmla="*/ 2568324 w 5260975"/>
              <a:gd name="connsiteY65" fmla="*/ 4659490 h 4707593"/>
              <a:gd name="connsiteX66" fmla="*/ 2544704 w 5260975"/>
              <a:gd name="connsiteY66" fmla="*/ 4660162 h 4707593"/>
              <a:gd name="connsiteX67" fmla="*/ 2503225 w 5260975"/>
              <a:gd name="connsiteY67" fmla="*/ 4661026 h 4707593"/>
              <a:gd name="connsiteX68" fmla="*/ 2489975 w 5260975"/>
              <a:gd name="connsiteY68" fmla="*/ 4663235 h 4707593"/>
              <a:gd name="connsiteX69" fmla="*/ 2430061 w 5260975"/>
              <a:gd name="connsiteY69" fmla="*/ 4656897 h 4707593"/>
              <a:gd name="connsiteX70" fmla="*/ 2395880 w 5260975"/>
              <a:gd name="connsiteY70" fmla="*/ 4656417 h 4707593"/>
              <a:gd name="connsiteX71" fmla="*/ 2357378 w 5260975"/>
              <a:gd name="connsiteY71" fmla="*/ 4648544 h 4707593"/>
              <a:gd name="connsiteX72" fmla="*/ 2346145 w 5260975"/>
              <a:gd name="connsiteY72" fmla="*/ 4648928 h 4707593"/>
              <a:gd name="connsiteX73" fmla="*/ 2333567 w 5260975"/>
              <a:gd name="connsiteY73" fmla="*/ 4649600 h 4707593"/>
              <a:gd name="connsiteX74" fmla="*/ 2294968 w 5260975"/>
              <a:gd name="connsiteY74" fmla="*/ 4650177 h 4707593"/>
              <a:gd name="connsiteX75" fmla="*/ 2271540 w 5260975"/>
              <a:gd name="connsiteY75" fmla="*/ 4653057 h 4707593"/>
              <a:gd name="connsiteX76" fmla="*/ 2226895 w 5260975"/>
              <a:gd name="connsiteY76" fmla="*/ 4651329 h 4707593"/>
              <a:gd name="connsiteX77" fmla="*/ 2210379 w 5260975"/>
              <a:gd name="connsiteY77" fmla="*/ 4653825 h 4707593"/>
              <a:gd name="connsiteX78" fmla="*/ 2168613 w 5260975"/>
              <a:gd name="connsiteY78" fmla="*/ 4654113 h 4707593"/>
              <a:gd name="connsiteX79" fmla="*/ 2131167 w 5260975"/>
              <a:gd name="connsiteY79" fmla="*/ 4652673 h 4707593"/>
              <a:gd name="connsiteX80" fmla="*/ 2095065 w 5260975"/>
              <a:gd name="connsiteY80" fmla="*/ 4653441 h 4707593"/>
              <a:gd name="connsiteX81" fmla="*/ 2069237 w 5260975"/>
              <a:gd name="connsiteY81" fmla="*/ 4656609 h 4707593"/>
              <a:gd name="connsiteX82" fmla="*/ 2041201 w 5260975"/>
              <a:gd name="connsiteY82" fmla="*/ 4658529 h 4707593"/>
              <a:gd name="connsiteX83" fmla="*/ 1963909 w 5260975"/>
              <a:gd name="connsiteY83" fmla="*/ 4669955 h 4707593"/>
              <a:gd name="connsiteX84" fmla="*/ 1949603 w 5260975"/>
              <a:gd name="connsiteY84" fmla="*/ 4667171 h 4707593"/>
              <a:gd name="connsiteX85" fmla="*/ 1868373 w 5260975"/>
              <a:gd name="connsiteY85" fmla="*/ 4664578 h 4707593"/>
              <a:gd name="connsiteX86" fmla="*/ 1850707 w 5260975"/>
              <a:gd name="connsiteY86" fmla="*/ 4664771 h 4707593"/>
              <a:gd name="connsiteX87" fmla="*/ 1803275 w 5260975"/>
              <a:gd name="connsiteY87" fmla="*/ 4653441 h 4707593"/>
              <a:gd name="connsiteX88" fmla="*/ 1730112 w 5260975"/>
              <a:gd name="connsiteY88" fmla="*/ 4671396 h 4707593"/>
              <a:gd name="connsiteX89" fmla="*/ 1661652 w 5260975"/>
              <a:gd name="connsiteY89" fmla="*/ 4693863 h 4707593"/>
              <a:gd name="connsiteX90" fmla="*/ 1653011 w 5260975"/>
              <a:gd name="connsiteY90" fmla="*/ 4696744 h 4707593"/>
              <a:gd name="connsiteX91" fmla="*/ 1628431 w 5260975"/>
              <a:gd name="connsiteY91" fmla="*/ 4701641 h 4707593"/>
              <a:gd name="connsiteX92" fmla="*/ 1597995 w 5260975"/>
              <a:gd name="connsiteY92" fmla="*/ 4703369 h 4707593"/>
              <a:gd name="connsiteX93" fmla="*/ 1559396 w 5260975"/>
              <a:gd name="connsiteY93" fmla="*/ 4707593 h 4707593"/>
              <a:gd name="connsiteX94" fmla="*/ 1528480 w 5260975"/>
              <a:gd name="connsiteY94" fmla="*/ 4702312 h 4707593"/>
              <a:gd name="connsiteX95" fmla="*/ 1485272 w 5260975"/>
              <a:gd name="connsiteY95" fmla="*/ 4694439 h 4707593"/>
              <a:gd name="connsiteX96" fmla="*/ 1444562 w 5260975"/>
              <a:gd name="connsiteY96" fmla="*/ 4686950 h 4707593"/>
              <a:gd name="connsiteX97" fmla="*/ 1431696 w 5260975"/>
              <a:gd name="connsiteY97" fmla="*/ 4695783 h 4707593"/>
              <a:gd name="connsiteX98" fmla="*/ 1411821 w 5260975"/>
              <a:gd name="connsiteY98" fmla="*/ 4703464 h 4707593"/>
              <a:gd name="connsiteX99" fmla="*/ 1389738 w 5260975"/>
              <a:gd name="connsiteY99" fmla="*/ 4694247 h 4707593"/>
              <a:gd name="connsiteX100" fmla="*/ 1338081 w 5260975"/>
              <a:gd name="connsiteY100" fmla="*/ 4675141 h 4707593"/>
              <a:gd name="connsiteX101" fmla="*/ 1305436 w 5260975"/>
              <a:gd name="connsiteY101" fmla="*/ 4674276 h 4707593"/>
              <a:gd name="connsiteX102" fmla="*/ 1234481 w 5260975"/>
              <a:gd name="connsiteY102" fmla="*/ 4666115 h 4707593"/>
              <a:gd name="connsiteX103" fmla="*/ 1188106 w 5260975"/>
              <a:gd name="connsiteY103" fmla="*/ 4654497 h 4707593"/>
              <a:gd name="connsiteX104" fmla="*/ 1154790 w 5260975"/>
              <a:gd name="connsiteY104" fmla="*/ 4641343 h 4707593"/>
              <a:gd name="connsiteX105" fmla="*/ 1107069 w 5260975"/>
              <a:gd name="connsiteY105" fmla="*/ 4624156 h 4707593"/>
              <a:gd name="connsiteX106" fmla="*/ 1059158 w 5260975"/>
              <a:gd name="connsiteY106" fmla="*/ 4615227 h 4707593"/>
              <a:gd name="connsiteX107" fmla="*/ 1024496 w 5260975"/>
              <a:gd name="connsiteY107" fmla="*/ 4603993 h 4707593"/>
              <a:gd name="connsiteX108" fmla="*/ 982153 w 5260975"/>
              <a:gd name="connsiteY108" fmla="*/ 4596311 h 4707593"/>
              <a:gd name="connsiteX109" fmla="*/ 946628 w 5260975"/>
              <a:gd name="connsiteY109" fmla="*/ 4596024 h 4707593"/>
              <a:gd name="connsiteX110" fmla="*/ 890939 w 5260975"/>
              <a:gd name="connsiteY110" fmla="*/ 4597368 h 4707593"/>
              <a:gd name="connsiteX111" fmla="*/ 822769 w 5260975"/>
              <a:gd name="connsiteY111" fmla="*/ 4574133 h 4707593"/>
              <a:gd name="connsiteX112" fmla="*/ 795212 w 5260975"/>
              <a:gd name="connsiteY112" fmla="*/ 4568947 h 4707593"/>
              <a:gd name="connsiteX113" fmla="*/ 769288 w 5260975"/>
              <a:gd name="connsiteY113" fmla="*/ 4566547 h 4707593"/>
              <a:gd name="connsiteX114" fmla="*/ 714271 w 5260975"/>
              <a:gd name="connsiteY114" fmla="*/ 4551089 h 4707593"/>
              <a:gd name="connsiteX115" fmla="*/ 691900 w 5260975"/>
              <a:gd name="connsiteY115" fmla="*/ 4545999 h 4707593"/>
              <a:gd name="connsiteX116" fmla="*/ 660598 w 5260975"/>
              <a:gd name="connsiteY116" fmla="*/ 4546096 h 4707593"/>
              <a:gd name="connsiteX117" fmla="*/ 603662 w 5260975"/>
              <a:gd name="connsiteY117" fmla="*/ 4538991 h 4707593"/>
              <a:gd name="connsiteX118" fmla="*/ 546821 w 5260975"/>
              <a:gd name="connsiteY118" fmla="*/ 4518251 h 4707593"/>
              <a:gd name="connsiteX119" fmla="*/ 522721 w 5260975"/>
              <a:gd name="connsiteY119" fmla="*/ 4520267 h 4707593"/>
              <a:gd name="connsiteX120" fmla="*/ 514080 w 5260975"/>
              <a:gd name="connsiteY120" fmla="*/ 4519788 h 4707593"/>
              <a:gd name="connsiteX121" fmla="*/ 436404 w 5260975"/>
              <a:gd name="connsiteY121" fmla="*/ 4508361 h 4707593"/>
              <a:gd name="connsiteX122" fmla="*/ 428626 w 5260975"/>
              <a:gd name="connsiteY122" fmla="*/ 4507114 h 4707593"/>
              <a:gd name="connsiteX123" fmla="*/ 392141 w 5260975"/>
              <a:gd name="connsiteY123" fmla="*/ 4496936 h 4707593"/>
              <a:gd name="connsiteX124" fmla="*/ 300157 w 5260975"/>
              <a:gd name="connsiteY124" fmla="*/ 4490599 h 4707593"/>
              <a:gd name="connsiteX125" fmla="*/ 294493 w 5260975"/>
              <a:gd name="connsiteY125" fmla="*/ 4489831 h 4707593"/>
              <a:gd name="connsiteX126" fmla="*/ 263671 w 5260975"/>
              <a:gd name="connsiteY126" fmla="*/ 4494919 h 4707593"/>
              <a:gd name="connsiteX127" fmla="*/ 248406 w 5260975"/>
              <a:gd name="connsiteY127" fmla="*/ 4502121 h 4707593"/>
              <a:gd name="connsiteX128" fmla="*/ 224594 w 5260975"/>
              <a:gd name="connsiteY128" fmla="*/ 4509610 h 4707593"/>
              <a:gd name="connsiteX129" fmla="*/ 200398 w 5260975"/>
              <a:gd name="connsiteY129" fmla="*/ 4512395 h 4707593"/>
              <a:gd name="connsiteX130" fmla="*/ 159783 w 5260975"/>
              <a:gd name="connsiteY130" fmla="*/ 4501064 h 4707593"/>
              <a:gd name="connsiteX131" fmla="*/ 144997 w 5260975"/>
              <a:gd name="connsiteY131" fmla="*/ 4499912 h 4707593"/>
              <a:gd name="connsiteX132" fmla="*/ 112064 w 5260975"/>
              <a:gd name="connsiteY132" fmla="*/ 4494440 h 4707593"/>
              <a:gd name="connsiteX133" fmla="*/ 83259 w 5260975"/>
              <a:gd name="connsiteY133" fmla="*/ 4494824 h 4707593"/>
              <a:gd name="connsiteX134" fmla="*/ 60120 w 5260975"/>
              <a:gd name="connsiteY134" fmla="*/ 4503561 h 4707593"/>
              <a:gd name="connsiteX135" fmla="*/ 26514 w 5260975"/>
              <a:gd name="connsiteY135" fmla="*/ 4505289 h 4707593"/>
              <a:gd name="connsiteX136" fmla="*/ 4814 w 5260975"/>
              <a:gd name="connsiteY136" fmla="*/ 4498952 h 4707593"/>
              <a:gd name="connsiteX137" fmla="*/ 398 w 5260975"/>
              <a:gd name="connsiteY137" fmla="*/ 4498089 h 4707593"/>
              <a:gd name="connsiteX138" fmla="*/ 0 w 5260975"/>
              <a:gd name="connsiteY138" fmla="*/ 4498087 h 47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4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4" y="3748498"/>
                  <a:pt x="4977440" y="3752627"/>
                </a:cubicBezTo>
                <a:cubicBezTo>
                  <a:pt x="4964094" y="3761268"/>
                  <a:pt x="4949500" y="3768277"/>
                  <a:pt x="4935194" y="3775382"/>
                </a:cubicBezTo>
                <a:cubicBezTo>
                  <a:pt x="4922903" y="3781431"/>
                  <a:pt x="4909846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7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2" y="4077254"/>
                  <a:pt x="4512727" y="4081479"/>
                  <a:pt x="4502550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3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3537A-7403-C432-032F-0A3546A04057}"/>
              </a:ext>
            </a:extLst>
          </p:cNvPr>
          <p:cNvSpPr txBox="1"/>
          <p:nvPr/>
        </p:nvSpPr>
        <p:spPr>
          <a:xfrm>
            <a:off x="-513346" y="510293"/>
            <a:ext cx="6840404" cy="4707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lvl="4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u="sng" dirty="0">
                <a:solidFill>
                  <a:srgbClr val="FFC000">
                    <a:alpha val="80000"/>
                  </a:srgbClr>
                </a:solidFill>
              </a:rPr>
              <a:t>Feature Extraction &amp;Price Prediction for Mobile Phones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53" name="Freeform: Shape 39">
            <a:extLst>
              <a:ext uri="{FF2B5EF4-FFF2-40B4-BE49-F238E27FC236}">
                <a16:creationId xmlns:a16="http://schemas.microsoft.com/office/drawing/2014/main" id="{127393A7-D6DA-410B-8699-AA56B57B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Freeform: Shape 41">
            <a:extLst>
              <a:ext uri="{FF2B5EF4-FFF2-40B4-BE49-F238E27FC236}">
                <a16:creationId xmlns:a16="http://schemas.microsoft.com/office/drawing/2014/main" id="{8EC44C88-69E3-42EE-86E8-9B45F712B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795537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AC495-F75C-3187-3DF2-EAED4612E27B}"/>
              </a:ext>
            </a:extLst>
          </p:cNvPr>
          <p:cNvSpPr txBox="1"/>
          <p:nvPr/>
        </p:nvSpPr>
        <p:spPr>
          <a:xfrm>
            <a:off x="1524000" y="4235116"/>
            <a:ext cx="457199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Intern/Data Analyst: Next Hikes IT Solutions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Project date: 15th Nov 2025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Presented by: </a:t>
            </a:r>
            <a:r>
              <a:rPr lang="en-US" sz="2000" i="1" u="sng" dirty="0">
                <a:solidFill>
                  <a:schemeClr val="bg1"/>
                </a:solidFill>
              </a:rPr>
              <a:t>Sonal Gaikwad</a:t>
            </a:r>
          </a:p>
          <a:p>
            <a:endParaRPr lang="en-US" sz="1800" i="1" u="sng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3" name="Picture 2" descr="A group of cell phones">
            <a:extLst>
              <a:ext uri="{FF2B5EF4-FFF2-40B4-BE49-F238E27FC236}">
                <a16:creationId xmlns:a16="http://schemas.microsoft.com/office/drawing/2014/main" id="{F6CBE578-20AF-8541-4BAC-CDDCAF2FC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72642" y="0"/>
            <a:ext cx="12264642" cy="6817620"/>
          </a:xfrm>
          <a:prstGeom prst="rect">
            <a:avLst/>
          </a:prstGeom>
        </p:spPr>
      </p:pic>
      <p:pic>
        <p:nvPicPr>
          <p:cNvPr id="6" name="Picture 5" descr="A black and yellow paper with yellow text">
            <a:extLst>
              <a:ext uri="{FF2B5EF4-FFF2-40B4-BE49-F238E27FC236}">
                <a16:creationId xmlns:a16="http://schemas.microsoft.com/office/drawing/2014/main" id="{80545D13-93A8-9624-A03C-1CFE0250A5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432" y="1480014"/>
            <a:ext cx="5116286" cy="3998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D14A94-841B-4052-4749-A1008CD7A1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3269742"/>
            <a:ext cx="5943600" cy="31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4F0D347D-C723-DC7E-A512-EDEAFC76B5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81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A20C01-F1DC-F5CE-EA5C-A5A625948B7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i="1" u="sng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TextBox 8">
            <a:extLst>
              <a:ext uri="{FF2B5EF4-FFF2-40B4-BE49-F238E27FC236}">
                <a16:creationId xmlns:a16="http://schemas.microsoft.com/office/drawing/2014/main" id="{33FD7263-700A-1EC7-33BA-944A2F803B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957031"/>
              </p:ext>
            </p:extLst>
          </p:nvPr>
        </p:nvGraphicFramePr>
        <p:xfrm>
          <a:off x="838200" y="2004446"/>
          <a:ext cx="105156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096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4F0D347D-C723-DC7E-A512-EDEAFC76B5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881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53FB11-F399-0086-98D1-BB2AD71D8320}"/>
              </a:ext>
            </a:extLst>
          </p:cNvPr>
          <p:cNvSpPr txBox="1"/>
          <p:nvPr/>
        </p:nvSpPr>
        <p:spPr>
          <a:xfrm>
            <a:off x="838199" y="351691"/>
            <a:ext cx="6052955" cy="6857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i="1" u="sng" dirty="0"/>
              <a:t>Dataset Description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8000" i="1" u="sng" dirty="0">
              <a:ln w="22225">
                <a:solidFill>
                  <a:srgbClr val="FFFFFF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4BE4E2-AFF2-9740-5736-FE9BE84BC01F}"/>
              </a:ext>
            </a:extLst>
          </p:cNvPr>
          <p:cNvSpPr txBox="1"/>
          <p:nvPr/>
        </p:nvSpPr>
        <p:spPr>
          <a:xfrm>
            <a:off x="7534641" y="1065862"/>
            <a:ext cx="3860002" cy="5552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The dataset contains details such as model, </a:t>
            </a:r>
            <a:r>
              <a:rPr lang="en-US" sz="2000" dirty="0" err="1"/>
              <a:t>colour</a:t>
            </a:r>
            <a:r>
              <a:rPr lang="en-US" sz="2000" dirty="0"/>
              <a:t>, RAM, battery, camera, AI lens, processor, and price.</a:t>
            </a:r>
          </a:p>
          <a:p>
            <a:r>
              <a:rPr lang="en-US" sz="2000" dirty="0"/>
              <a:t>Each record represents one mobile phone with its specifications.</a:t>
            </a:r>
          </a:p>
          <a:p>
            <a:r>
              <a:rPr lang="en-US" sz="2000" dirty="0"/>
              <a:t>The target variable is Price, and all others are input features.</a:t>
            </a:r>
          </a:p>
          <a:p>
            <a:r>
              <a:rPr lang="en-US" sz="2000" dirty="0"/>
              <a:t>We examined data types and checked for missing or inconsistent values.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i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0C01-F1DC-F5CE-EA5C-A5A625948B74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000" b="1" i="1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ECD7A-CF64-337F-436C-DDDC9CECDCC9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921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9136B-FED9-041C-1D63-F373DFA2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F2CBECA3-FFFA-F46B-050E-040AD4E63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1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DB49D-EC53-791A-BBC0-F50B36405354}"/>
              </a:ext>
            </a:extLst>
          </p:cNvPr>
          <p:cNvSpPr txBox="1"/>
          <p:nvPr/>
        </p:nvSpPr>
        <p:spPr>
          <a:xfrm>
            <a:off x="1104900" y="910431"/>
            <a:ext cx="4724400" cy="14664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1" u="sng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8D208-B9CD-CB14-9B6E-9850A72DB086}"/>
              </a:ext>
            </a:extLst>
          </p:cNvPr>
          <p:cNvSpPr txBox="1"/>
          <p:nvPr/>
        </p:nvSpPr>
        <p:spPr>
          <a:xfrm>
            <a:off x="1104900" y="2492080"/>
            <a:ext cx="4724400" cy="30158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All missing values were removed and categorical columns were encoded numerically.</a:t>
            </a:r>
          </a:p>
          <a:p>
            <a:r>
              <a:rPr lang="en-US" sz="2200" dirty="0">
                <a:solidFill>
                  <a:schemeClr val="bg1"/>
                </a:solidFill>
              </a:rPr>
              <a:t>Features like Model, </a:t>
            </a:r>
            <a:r>
              <a:rPr lang="en-US" sz="2200" dirty="0" err="1">
                <a:solidFill>
                  <a:schemeClr val="bg1"/>
                </a:solidFill>
              </a:rPr>
              <a:t>Colour</a:t>
            </a:r>
            <a:r>
              <a:rPr lang="en-US" sz="2200" dirty="0">
                <a:solidFill>
                  <a:schemeClr val="bg1"/>
                </a:solidFill>
              </a:rPr>
              <a:t>, Processor, and AI Lens were label-encoded.</a:t>
            </a:r>
          </a:p>
          <a:p>
            <a:r>
              <a:rPr lang="en-US" sz="2200" dirty="0">
                <a:solidFill>
                  <a:schemeClr val="bg1"/>
                </a:solidFill>
              </a:rPr>
              <a:t>This made the dataset fully numeric and ready for ML modeling.</a:t>
            </a:r>
          </a:p>
          <a:p>
            <a:r>
              <a:rPr lang="en-US" sz="2200" dirty="0">
                <a:solidFill>
                  <a:schemeClr val="bg1"/>
                </a:solidFill>
              </a:rPr>
              <a:t>Data cleaning ensured accuracy and consistency in predictions</a:t>
            </a:r>
          </a:p>
          <a:p>
            <a:pPr>
              <a:lnSpc>
                <a:spcPct val="90000"/>
              </a:lnSpc>
            </a:pPr>
            <a:br>
              <a:rPr lang="en-US" sz="1900" b="0" dirty="0">
                <a:solidFill>
                  <a:schemeClr val="bg1"/>
                </a:solidFill>
                <a:effectLst/>
              </a:rPr>
            </a:br>
            <a:endParaRPr lang="en-US" sz="1900" b="0" dirty="0">
              <a:solidFill>
                <a:schemeClr val="bg1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i="1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2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4F0D347D-C723-DC7E-A512-EDEAFC76B5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81"/>
          <a:stretch>
            <a:fillRect/>
          </a:stretch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0D9BD9-DAF5-F667-16C5-6D1770CE63AC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u="sng" dirty="0">
                <a:solidFill>
                  <a:schemeClr val="bg1"/>
                </a:solidFill>
                <a:effectLst/>
              </a:rPr>
              <a:t>Feature Extraction/Correlation Analysis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2" name="Rectangle 14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3" name="Rectangle 15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7A97E-19B9-2334-2DD1-7187286E2369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Correlation analysis was performed to find strong relations with price.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heatmap showed that RAM, Processor, Battery, and Camera were key influencers.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Less important variables were identified for possible removal.</a:t>
            </a:r>
          </a:p>
          <a:p>
            <a:r>
              <a:rPr lang="en-US" sz="2400" dirty="0">
                <a:solidFill>
                  <a:schemeClr val="bg1"/>
                </a:solidFill>
              </a:rPr>
              <a:t>Feature extraction improved both performance and interpretability of the model.</a:t>
            </a:r>
          </a:p>
          <a:p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endParaRPr lang="en-US" sz="2000" b="0" dirty="0">
              <a:solidFill>
                <a:schemeClr val="bg1"/>
              </a:solidFill>
              <a:effectLst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0C01-F1DC-F5CE-EA5C-A5A625948B74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000" b="1" i="1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ECD7A-CF64-337F-436C-DDDC9CECDCC9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8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8" name="Rectangle 16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0D9BD9-DAF5-F667-16C5-6D1770CE63AC}"/>
              </a:ext>
            </a:extLst>
          </p:cNvPr>
          <p:cNvSpPr txBox="1"/>
          <p:nvPr/>
        </p:nvSpPr>
        <p:spPr>
          <a:xfrm>
            <a:off x="1244823" y="409084"/>
            <a:ext cx="6513341" cy="3843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4400" b="0" dirty="0">
                <a:effectLst/>
              </a:rPr>
              <a:t> </a:t>
            </a:r>
            <a:r>
              <a:rPr lang="en-US" sz="3200" b="0" u="sng" dirty="0">
                <a:effectLst/>
              </a:rPr>
              <a:t>Model Building</a:t>
            </a:r>
          </a:p>
          <a:p>
            <a:br>
              <a:rPr lang="en-US" sz="4400" b="0" dirty="0">
                <a:effectLst/>
              </a:rPr>
            </a:br>
            <a:endParaRPr lang="en-US" sz="4400" b="0" dirty="0">
              <a:effectLst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7A97E-19B9-2334-2DD1-7187286E2369}"/>
              </a:ext>
            </a:extLst>
          </p:cNvPr>
          <p:cNvSpPr txBox="1"/>
          <p:nvPr/>
        </p:nvSpPr>
        <p:spPr>
          <a:xfrm>
            <a:off x="838200" y="2333297"/>
            <a:ext cx="4549767" cy="38436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400" dirty="0"/>
              <a:t>We split the dataset into training (80%) and testing (20%) sets.</a:t>
            </a:r>
          </a:p>
          <a:p>
            <a:r>
              <a:rPr lang="en-US" sz="2400" dirty="0"/>
              <a:t>A Random Forest Regressor was used for price prediction.</a:t>
            </a:r>
          </a:p>
          <a:p>
            <a:r>
              <a:rPr lang="en-US" sz="2400" dirty="0"/>
              <a:t>It combines multiple decision trees to enhance accuracy and stability.</a:t>
            </a:r>
          </a:p>
          <a:p>
            <a:r>
              <a:rPr lang="en-US" sz="2400" dirty="0"/>
              <a:t>The model learned complex patterns between features and price.</a:t>
            </a:r>
          </a:p>
          <a:p>
            <a:br>
              <a:rPr lang="en-US" sz="1900" b="0" dirty="0">
                <a:effectLst/>
              </a:rPr>
            </a:br>
            <a:endParaRPr lang="en-US" sz="19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4F0D347D-C723-DC7E-A512-EDEAFC76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75" r="33982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A20C01-F1DC-F5CE-EA5C-A5A625948B74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000" b="1" i="1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ECD7A-CF64-337F-436C-DDDC9CECDCC9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8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9D2AD-F158-A1FA-EADB-643B24E7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74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DEC2EB5D-2E4A-DD16-0850-D146015A74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8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AAF68C-56FF-5E86-8374-3F30B93D3C92}"/>
              </a:ext>
            </a:extLst>
          </p:cNvPr>
          <p:cNvSpPr txBox="1"/>
          <p:nvPr/>
        </p:nvSpPr>
        <p:spPr>
          <a:xfrm>
            <a:off x="443267" y="853673"/>
            <a:ext cx="6447389" cy="6951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800" b="0" u="sng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Model Evaluation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br>
              <a:rPr lang="en-US" sz="5400" b="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5400" b="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60EB0-C305-DC88-69DE-69894F92ADA4}"/>
              </a:ext>
            </a:extLst>
          </p:cNvPr>
          <p:cNvSpPr txBox="1"/>
          <p:nvPr/>
        </p:nvSpPr>
        <p:spPr>
          <a:xfrm>
            <a:off x="5599083" y="853673"/>
            <a:ext cx="5715000" cy="5004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Model performance was evaluated using MAE, RMSE, and R² Score.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high R² value indicated excellent predictive accuracy.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Predicted prices were close to actual values on the test data.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scatter plot confirmed strong alignment between actual and predicted results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br>
              <a:rPr lang="en-US" sz="2200" b="0" dirty="0">
                <a:solidFill>
                  <a:schemeClr val="bg1"/>
                </a:solidFill>
                <a:effectLst/>
              </a:rPr>
            </a:br>
            <a:endParaRPr lang="en-US" sz="2200" b="0" dirty="0">
              <a:solidFill>
                <a:schemeClr val="bg1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7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800F6-8D52-C312-495E-7A6500CE9B4B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000" b="1" i="1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03190-08CC-CC60-9EE2-A2C09A4B2ACE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4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74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4F0D347D-C723-DC7E-A512-EDEAFC76B5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88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0D9BD9-DAF5-F667-16C5-6D1770CE63AC}"/>
              </a:ext>
            </a:extLst>
          </p:cNvPr>
          <p:cNvSpPr txBox="1"/>
          <p:nvPr/>
        </p:nvSpPr>
        <p:spPr>
          <a:xfrm>
            <a:off x="838199" y="1065862"/>
            <a:ext cx="6052955" cy="4726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6200" u="sng" dirty="0">
                <a:ln w="22225">
                  <a:solidFill>
                    <a:srgbClr val="FFFFFF"/>
                  </a:solidFill>
                </a:ln>
                <a:noFill/>
                <a:latin typeface="+mj-lt"/>
                <a:ea typeface="+mj-ea"/>
                <a:cs typeface="+mj-cs"/>
              </a:rPr>
              <a:t>Feature Importance Analysis</a:t>
            </a:r>
            <a:endParaRPr lang="en-US" sz="6200" b="0" u="sng" dirty="0">
              <a:ln w="22225">
                <a:solidFill>
                  <a:srgbClr val="FFFFFF"/>
                </a:solidFill>
              </a:ln>
              <a:noFill/>
              <a:effectLst/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</a:pPr>
            <a:br>
              <a:rPr lang="en-US" sz="6200" b="0" dirty="0">
                <a:ln w="22225">
                  <a:solidFill>
                    <a:srgbClr val="FFFFFF"/>
                  </a:solidFill>
                </a:ln>
                <a:noFill/>
                <a:effectLst/>
                <a:latin typeface="+mj-lt"/>
                <a:ea typeface="+mj-ea"/>
                <a:cs typeface="+mj-cs"/>
              </a:rPr>
            </a:br>
            <a:endParaRPr lang="en-US" sz="6200" b="0" dirty="0">
              <a:ln w="22225">
                <a:solidFill>
                  <a:srgbClr val="FFFFFF"/>
                </a:solidFill>
              </a:ln>
              <a:noFill/>
              <a:effectLst/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200" dirty="0">
              <a:ln w="22225">
                <a:solidFill>
                  <a:srgbClr val="FFFFFF"/>
                </a:solidFill>
              </a:ln>
              <a:noFill/>
              <a:latin typeface="+mj-lt"/>
              <a:ea typeface="+mj-ea"/>
              <a:cs typeface="+mj-cs"/>
            </a:endParaRP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C7A97E-19B9-2334-2DD1-7187286E2369}"/>
              </a:ext>
            </a:extLst>
          </p:cNvPr>
          <p:cNvSpPr txBox="1"/>
          <p:nvPr/>
        </p:nvSpPr>
        <p:spPr>
          <a:xfrm>
            <a:off x="7534641" y="1065862"/>
            <a:ext cx="3860002" cy="4726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b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Feature importance from the Random Forest model identified top contributors.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RAM, Processor, Battery, and Rear Camera were most impactful.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Colour and Model Name showed very low importance.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These results confirm that performance-based features drive price.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br>
              <a:rPr lang="en-US" sz="2000" b="0">
                <a:solidFill>
                  <a:srgbClr val="FFFFFF"/>
                </a:solidFill>
                <a:effectLst/>
              </a:rPr>
            </a:br>
            <a:endParaRPr lang="en-US" sz="2000" b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0C01-F1DC-F5CE-EA5C-A5A625948B74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000" b="1" i="1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ECD7A-CF64-337F-436C-DDDC9CECDCC9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582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blue and white watercolor&#10;&#10;Description automatically generated">
            <a:extLst>
              <a:ext uri="{FF2B5EF4-FFF2-40B4-BE49-F238E27FC236}">
                <a16:creationId xmlns:a16="http://schemas.microsoft.com/office/drawing/2014/main" id="{4F0D347D-C723-DC7E-A512-EDEAFC76B5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F6EE8F-CD3A-3E42-C3A3-BA2BA16C712E}"/>
              </a:ext>
            </a:extLst>
          </p:cNvPr>
          <p:cNvSpPr txBox="1"/>
          <p:nvPr/>
        </p:nvSpPr>
        <p:spPr>
          <a:xfrm>
            <a:off x="838199" y="2318658"/>
            <a:ext cx="5155261" cy="47679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i="1" u="sng" dirty="0">
                <a:solidFill>
                  <a:srgbClr val="FFFFFF"/>
                </a:solidFill>
                <a:ea typeface="+mj-ea"/>
                <a:cs typeface="+mj-cs"/>
              </a:rPr>
              <a:t>Insights &amp;  Recommendations / Conclusion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A9E6A-4283-707B-2D7C-647F5182E16A}"/>
              </a:ext>
            </a:extLst>
          </p:cNvPr>
          <p:cNvSpPr txBox="1"/>
          <p:nvPr/>
        </p:nvSpPr>
        <p:spPr>
          <a:xfrm>
            <a:off x="6185986" y="685800"/>
            <a:ext cx="5810071" cy="596537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r>
              <a:rPr lang="en-US" sz="3800" dirty="0">
                <a:solidFill>
                  <a:schemeClr val="bg1"/>
                </a:solidFill>
              </a:rPr>
              <a:t>High RAM, powerful processors, and better cameras increase mobile price.</a:t>
            </a:r>
          </a:p>
          <a:p>
            <a:r>
              <a:rPr lang="en-US" sz="3800" dirty="0">
                <a:solidFill>
                  <a:schemeClr val="bg1"/>
                </a:solidFill>
              </a:rPr>
              <a:t>Design or </a:t>
            </a:r>
            <a:r>
              <a:rPr lang="en-US" sz="3800" dirty="0" err="1">
                <a:solidFill>
                  <a:schemeClr val="bg1"/>
                </a:solidFill>
              </a:rPr>
              <a:t>colour</a:t>
            </a:r>
            <a:r>
              <a:rPr lang="en-US" sz="3800" dirty="0">
                <a:solidFill>
                  <a:schemeClr val="bg1"/>
                </a:solidFill>
              </a:rPr>
              <a:t> has minimal influence on pricing.</a:t>
            </a:r>
          </a:p>
          <a:p>
            <a:r>
              <a:rPr lang="en-US" sz="3800" dirty="0">
                <a:solidFill>
                  <a:schemeClr val="bg1"/>
                </a:solidFill>
              </a:rPr>
              <a:t>Companies should focus on technical performance for premium models.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Insights can guide marketing and pricing strategies effectively.</a:t>
            </a:r>
          </a:p>
          <a:p>
            <a:br>
              <a:rPr lang="en-US" sz="3800" dirty="0"/>
            </a:br>
            <a:endParaRPr lang="en-US" sz="3800" dirty="0"/>
          </a:p>
          <a:p>
            <a:r>
              <a:rPr lang="en-US" sz="3800" dirty="0">
                <a:solidFill>
                  <a:schemeClr val="bg1"/>
                </a:solidFill>
              </a:rPr>
              <a:t>A Random Forest model was built to predict mobile phone prices accurately.</a:t>
            </a:r>
          </a:p>
          <a:p>
            <a:r>
              <a:rPr lang="en-US" sz="3800" dirty="0">
                <a:solidFill>
                  <a:schemeClr val="bg1"/>
                </a:solidFill>
              </a:rPr>
              <a:t>Data preprocessing and feature extraction improved model results.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The model achieved high accuracy and identified top influencing factors.</a:t>
            </a:r>
          </a:p>
          <a:p>
            <a:r>
              <a:rPr lang="en-US" sz="3800" dirty="0">
                <a:solidFill>
                  <a:schemeClr val="bg1"/>
                </a:solidFill>
              </a:rPr>
              <a:t>This project meets its objective of feature-based price prediction.</a:t>
            </a:r>
          </a:p>
          <a:p>
            <a:pPr>
              <a:lnSpc>
                <a:spcPct val="90000"/>
              </a:lnSpc>
            </a:pPr>
            <a:br>
              <a:rPr lang="en-US" sz="2000" b="0" i="1" dirty="0">
                <a:solidFill>
                  <a:srgbClr val="FFFFFF"/>
                </a:solidFill>
                <a:effectLst/>
              </a:rPr>
            </a:br>
            <a:endParaRPr lang="en-US" sz="2000" b="0" i="1" dirty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20C01-F1DC-F5CE-EA5C-A5A625948B74}"/>
              </a:ext>
            </a:extLst>
          </p:cNvPr>
          <p:cNvSpPr txBox="1"/>
          <p:nvPr/>
        </p:nvSpPr>
        <p:spPr>
          <a:xfrm>
            <a:off x="841249" y="941832"/>
            <a:ext cx="10506456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5000" b="1" i="1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ECD7A-CF64-337F-436C-DDDC9CECDCC9}"/>
              </a:ext>
            </a:extLst>
          </p:cNvPr>
          <p:cNvSpPr txBox="1"/>
          <p:nvPr/>
        </p:nvSpPr>
        <p:spPr>
          <a:xfrm>
            <a:off x="841248" y="3502152"/>
            <a:ext cx="10506456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9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A blue abstract watercolor pattern on a white background">
            <a:extLst>
              <a:ext uri="{FF2B5EF4-FFF2-40B4-BE49-F238E27FC236}">
                <a16:creationId xmlns:a16="http://schemas.microsoft.com/office/drawing/2014/main" id="{9B42029E-A07F-4C6A-37F5-4CC794791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60" r="21590" b="1"/>
          <a:stretch>
            <a:fillRect/>
          </a:stretch>
        </p:blipFill>
        <p:spPr>
          <a:xfrm>
            <a:off x="3079049" y="412049"/>
            <a:ext cx="6033902" cy="6033902"/>
          </a:xfrm>
          <a:custGeom>
            <a:avLst/>
            <a:gdLst/>
            <a:ahLst/>
            <a:cxnLst/>
            <a:rect l="l" t="t" r="r" b="b"/>
            <a:pathLst>
              <a:path w="6033902" h="6033902">
                <a:moveTo>
                  <a:pt x="3016951" y="0"/>
                </a:moveTo>
                <a:cubicBezTo>
                  <a:pt x="4683167" y="0"/>
                  <a:pt x="6033902" y="1350735"/>
                  <a:pt x="6033902" y="3016951"/>
                </a:cubicBezTo>
                <a:cubicBezTo>
                  <a:pt x="6033902" y="4683167"/>
                  <a:pt x="4683167" y="6033902"/>
                  <a:pt x="3016951" y="6033902"/>
                </a:cubicBezTo>
                <a:cubicBezTo>
                  <a:pt x="1350735" y="6033902"/>
                  <a:pt x="0" y="4683167"/>
                  <a:pt x="0" y="3016951"/>
                </a:cubicBezTo>
                <a:cubicBezTo>
                  <a:pt x="0" y="1350735"/>
                  <a:pt x="1350735" y="0"/>
                  <a:pt x="3016951" y="0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3BDCA-9F05-0846-5AC0-3BFC9DBAF994}"/>
              </a:ext>
            </a:extLst>
          </p:cNvPr>
          <p:cNvSpPr txBox="1"/>
          <p:nvPr/>
        </p:nvSpPr>
        <p:spPr>
          <a:xfrm>
            <a:off x="4851009" y="2810832"/>
            <a:ext cx="24899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1689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494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Mustafa Maru</dc:creator>
  <cp:lastModifiedBy>Sonal Gaikwad</cp:lastModifiedBy>
  <cp:revision>4</cp:revision>
  <dcterms:created xsi:type="dcterms:W3CDTF">2025-08-27T05:12:59Z</dcterms:created>
  <dcterms:modified xsi:type="dcterms:W3CDTF">2026-02-16T06:45:15Z</dcterms:modified>
</cp:coreProperties>
</file>